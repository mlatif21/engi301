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1" r:id="rId2"/>
    <p:sldId id="367" r:id="rId3"/>
    <p:sldId id="368" r:id="rId4"/>
    <p:sldId id="370" r:id="rId5"/>
    <p:sldId id="371" r:id="rId6"/>
    <p:sldId id="369" r:id="rId7"/>
    <p:sldId id="372" r:id="rId8"/>
    <p:sldId id="64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96" autoAdjust="0"/>
    <p:restoredTop sz="94681" autoAdjust="0"/>
  </p:normalViewPr>
  <p:slideViewPr>
    <p:cSldViewPr>
      <p:cViewPr>
        <p:scale>
          <a:sx n="106" d="100"/>
          <a:sy n="106" d="100"/>
        </p:scale>
        <p:origin x="712" y="38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12/18/24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12/18/24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12/18/24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12/18/24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12/18/24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12/18/24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12/18/24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12/18/24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12/18/24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ckster.io/Eunice011/elemental-cosplay-sword-1821f4" TargetMode="External"/><Relationship Id="rId2" Type="http://schemas.openxmlformats.org/officeDocument/2006/relationships/hyperlink" Target="https://www.instructables.com/Arduino-Based-Lightsaber-With-Light-and-Sound-Effe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PCB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>
            <a:normAutofit/>
          </a:bodyPr>
          <a:lstStyle/>
          <a:p>
            <a:r>
              <a:rPr lang="en-US" dirty="0"/>
              <a:t>Mustafa Latif</a:t>
            </a:r>
          </a:p>
          <a:p>
            <a:endParaRPr lang="en-US" dirty="0"/>
          </a:p>
          <a:p>
            <a:r>
              <a:rPr lang="en-US" dirty="0"/>
              <a:t>Due 12/17/2024 @ 11:59pm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have fun lightsaber duels, but prop lightsabers are expensive</a:t>
            </a:r>
          </a:p>
          <a:p>
            <a:pPr lvl="1"/>
            <a:r>
              <a:rPr lang="en-US" dirty="0"/>
              <a:t>Through this project, we can build our own at a much cheaper cost</a:t>
            </a:r>
          </a:p>
          <a:p>
            <a:pPr lvl="1"/>
            <a:r>
              <a:rPr lang="en-US" dirty="0"/>
              <a:t>Cost effective, but also cooler since we built them ourselves</a:t>
            </a:r>
          </a:p>
          <a:p>
            <a:pPr lvl="1"/>
            <a:r>
              <a:rPr lang="en-US" dirty="0"/>
              <a:t>Inspiration/similar projects</a:t>
            </a:r>
          </a:p>
          <a:p>
            <a:pPr lvl="2"/>
            <a:r>
              <a:rPr lang="en-US" dirty="0"/>
              <a:t>Arduino Lightsaber </a:t>
            </a:r>
            <a:r>
              <a:rPr lang="en-US" dirty="0">
                <a:hlinkClick r:id="rId2"/>
              </a:rPr>
              <a:t>https://www.instructables.com/Arduino-Based-Lightsaber-With-Light-and-Sound-Effe/</a:t>
            </a:r>
            <a:endParaRPr lang="en-US" dirty="0"/>
          </a:p>
          <a:p>
            <a:pPr lvl="2"/>
            <a:r>
              <a:rPr lang="en-US" dirty="0"/>
              <a:t>ENGI 301 Elemental Cosplay Sword </a:t>
            </a:r>
            <a:r>
              <a:rPr lang="en-US" dirty="0">
                <a:hlinkClick r:id="rId3"/>
              </a:rPr>
              <a:t>https://www.hackster.io/Eunice011/elemental-cosplay-sword-1821f4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Improve upon previous ENGI projects by providing smoother sound effects, motion and impact sensing, and fluid blade ignition</a:t>
            </a:r>
          </a:p>
          <a:p>
            <a:pPr lvl="1"/>
            <a:endParaRPr lang="en-US" dirty="0"/>
          </a:p>
        </p:txBody>
      </p:sp>
      <p:pic>
        <p:nvPicPr>
          <p:cNvPr id="6" name="Picture 5" descr="A person holding a light saber&#10;&#10;Description automatically generated">
            <a:extLst>
              <a:ext uri="{FF2B5EF4-FFF2-40B4-BE49-F238E27FC236}">
                <a16:creationId xmlns:a16="http://schemas.microsoft.com/office/drawing/2014/main" id="{CA4893EB-08D0-19AB-A4EA-CC6A17D9D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443" y="4749069"/>
            <a:ext cx="3314700" cy="2108931"/>
          </a:xfrm>
          <a:prstGeom prst="rect">
            <a:avLst/>
          </a:prstGeom>
        </p:spPr>
      </p:pic>
      <p:pic>
        <p:nvPicPr>
          <p:cNvPr id="8" name="Picture 7" descr="A diagram of a device&#10;&#10;Description automatically generated">
            <a:extLst>
              <a:ext uri="{FF2B5EF4-FFF2-40B4-BE49-F238E27FC236}">
                <a16:creationId xmlns:a16="http://schemas.microsoft.com/office/drawing/2014/main" id="{5D0AD52F-038E-2667-9452-9970E613E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768546"/>
            <a:ext cx="4548414" cy="188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AF04C7-5774-BDCB-569F-4183B8458801}"/>
              </a:ext>
            </a:extLst>
          </p:cNvPr>
          <p:cNvSpPr/>
          <p:nvPr/>
        </p:nvSpPr>
        <p:spPr>
          <a:xfrm>
            <a:off x="3601598" y="1752600"/>
            <a:ext cx="3241254" cy="3733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PocketBeagle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(OSD335x-SM </a:t>
            </a:r>
            <a:r>
              <a:rPr lang="en-US" dirty="0" err="1"/>
              <a:t>SiP</a:t>
            </a:r>
            <a:r>
              <a:rPr lang="en-US" dirty="0"/>
              <a:t>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91E9B4F-974F-6359-D7C3-E2F34F26FA26}"/>
              </a:ext>
            </a:extLst>
          </p:cNvPr>
          <p:cNvSpPr/>
          <p:nvPr/>
        </p:nvSpPr>
        <p:spPr>
          <a:xfrm>
            <a:off x="1390880" y="3162300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5V USB battery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B69941-3050-1962-E606-4785C966A97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952980" y="3619500"/>
            <a:ext cx="647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4B54453-13D3-9A26-1836-2E910C1E1AD7}"/>
              </a:ext>
            </a:extLst>
          </p:cNvPr>
          <p:cNvSpPr txBox="1"/>
          <p:nvPr/>
        </p:nvSpPr>
        <p:spPr>
          <a:xfrm>
            <a:off x="6096000" y="2237897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8505E0-C289-5E81-3271-EFED7BC41877}"/>
              </a:ext>
            </a:extLst>
          </p:cNvPr>
          <p:cNvSpPr txBox="1"/>
          <p:nvPr/>
        </p:nvSpPr>
        <p:spPr>
          <a:xfrm>
            <a:off x="6251154" y="3495685"/>
            <a:ext cx="83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PWM/</a:t>
            </a:r>
          </a:p>
          <a:p>
            <a:r>
              <a:rPr lang="en-US" sz="1200" dirty="0"/>
              <a:t>I2S?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1AD01D-080A-8A0C-4DFD-61334276FF02}"/>
              </a:ext>
            </a:extLst>
          </p:cNvPr>
          <p:cNvSpPr txBox="1"/>
          <p:nvPr/>
        </p:nvSpPr>
        <p:spPr>
          <a:xfrm>
            <a:off x="6210300" y="4724059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I2C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9BF3FC-FED4-53B9-96BC-656A76979A0F}"/>
              </a:ext>
            </a:extLst>
          </p:cNvPr>
          <p:cNvCxnSpPr>
            <a:cxnSpLocks/>
          </p:cNvCxnSpPr>
          <p:nvPr/>
        </p:nvCxnSpPr>
        <p:spPr>
          <a:xfrm>
            <a:off x="6842852" y="2400300"/>
            <a:ext cx="10247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827756-EF7A-AF1A-D86A-0B23BC789B61}"/>
              </a:ext>
            </a:extLst>
          </p:cNvPr>
          <p:cNvCxnSpPr>
            <a:cxnSpLocks/>
          </p:cNvCxnSpPr>
          <p:nvPr/>
        </p:nvCxnSpPr>
        <p:spPr>
          <a:xfrm flipV="1">
            <a:off x="7391400" y="15621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B028DF-7275-98BE-D0C5-37BD0D33CCAD}"/>
              </a:ext>
            </a:extLst>
          </p:cNvPr>
          <p:cNvCxnSpPr/>
          <p:nvPr/>
        </p:nvCxnSpPr>
        <p:spPr>
          <a:xfrm>
            <a:off x="7391400" y="1562100"/>
            <a:ext cx="952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A3EE250-9208-F2CD-2892-C5F4D0E80C80}"/>
              </a:ext>
            </a:extLst>
          </p:cNvPr>
          <p:cNvCxnSpPr>
            <a:cxnSpLocks/>
          </p:cNvCxnSpPr>
          <p:nvPr/>
        </p:nvCxnSpPr>
        <p:spPr>
          <a:xfrm>
            <a:off x="6847442" y="3713206"/>
            <a:ext cx="8868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A15947-E898-2666-5C31-785BE102A967}"/>
              </a:ext>
            </a:extLst>
          </p:cNvPr>
          <p:cNvCxnSpPr/>
          <p:nvPr/>
        </p:nvCxnSpPr>
        <p:spPr>
          <a:xfrm>
            <a:off x="6842852" y="4914900"/>
            <a:ext cx="1501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C690A6A-1E22-85F0-4E8C-D8A3EFAAFD6B}"/>
              </a:ext>
            </a:extLst>
          </p:cNvPr>
          <p:cNvSpPr/>
          <p:nvPr/>
        </p:nvSpPr>
        <p:spPr>
          <a:xfrm>
            <a:off x="8343900" y="1343833"/>
            <a:ext cx="1562100" cy="42781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9949B52-85EF-31B9-6904-13AAA9D6255F}"/>
              </a:ext>
            </a:extLst>
          </p:cNvPr>
          <p:cNvSpPr/>
          <p:nvPr/>
        </p:nvSpPr>
        <p:spPr>
          <a:xfrm>
            <a:off x="7888076" y="1943100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Level Shifter (</a:t>
            </a: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TXS0108E)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D98C7A8-421C-2237-C605-90B2FC9F5C30}"/>
              </a:ext>
            </a:extLst>
          </p:cNvPr>
          <p:cNvSpPr/>
          <p:nvPr/>
        </p:nvSpPr>
        <p:spPr>
          <a:xfrm>
            <a:off x="10183258" y="3269318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Speaker</a:t>
            </a:r>
          </a:p>
          <a:p>
            <a:pPr algn="ctr"/>
            <a:r>
              <a:rPr lang="en-US" dirty="0"/>
              <a:t>(</a:t>
            </a:r>
            <a:r>
              <a:rPr lang="en-US" b="0" i="0" dirty="0" err="1">
                <a:solidFill>
                  <a:srgbClr val="0F1111"/>
                </a:solidFill>
                <a:effectLst/>
                <a:latin typeface="Amazon Ember"/>
              </a:rPr>
              <a:t>MakerHawk</a:t>
            </a: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)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15CB15F-51A9-5ECB-56B3-87BEF87D87DF}"/>
              </a:ext>
            </a:extLst>
          </p:cNvPr>
          <p:cNvSpPr/>
          <p:nvPr/>
        </p:nvSpPr>
        <p:spPr>
          <a:xfrm>
            <a:off x="8353080" y="4451525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Motion Sensor (</a:t>
            </a: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MPU-6050)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59752A7-0D4E-2498-CDFB-BE11A9EFF309}"/>
              </a:ext>
            </a:extLst>
          </p:cNvPr>
          <p:cNvSpPr/>
          <p:nvPr/>
        </p:nvSpPr>
        <p:spPr>
          <a:xfrm>
            <a:off x="7734300" y="3256006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Digital Amplifier (</a:t>
            </a:r>
            <a:r>
              <a:rPr lang="en-US" b="0" i="0" dirty="0">
                <a:solidFill>
                  <a:srgbClr val="000000"/>
                </a:solidFill>
                <a:effectLst/>
                <a:latin typeface="Proxima Nova"/>
              </a:rPr>
              <a:t>MAX98357)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651E1A-4065-7131-5F11-75E4E29C61C4}"/>
              </a:ext>
            </a:extLst>
          </p:cNvPr>
          <p:cNvCxnSpPr>
            <a:cxnSpLocks/>
          </p:cNvCxnSpPr>
          <p:nvPr/>
        </p:nvCxnSpPr>
        <p:spPr>
          <a:xfrm>
            <a:off x="9296400" y="3700875"/>
            <a:ext cx="8868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D68AC89-F776-8734-C7F0-C86540CF1BC1}"/>
              </a:ext>
            </a:extLst>
          </p:cNvPr>
          <p:cNvSpPr/>
          <p:nvPr/>
        </p:nvSpPr>
        <p:spPr>
          <a:xfrm>
            <a:off x="10251652" y="1943100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LED (</a:t>
            </a: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WS2812B)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F80905-DE56-91B2-15A0-6213B0E6A64F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9450176" y="2386070"/>
            <a:ext cx="801476" cy="142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094AADD-935B-054B-687A-669BDC26E59A}"/>
              </a:ext>
            </a:extLst>
          </p:cNvPr>
          <p:cNvSpPr/>
          <p:nvPr/>
        </p:nvSpPr>
        <p:spPr>
          <a:xfrm>
            <a:off x="3601598" y="1752600"/>
            <a:ext cx="3241254" cy="3733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PocketBeagle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(OSD335x-SM </a:t>
            </a:r>
            <a:r>
              <a:rPr lang="en-US" dirty="0" err="1"/>
              <a:t>SiP</a:t>
            </a:r>
            <a:r>
              <a:rPr lang="en-US" dirty="0"/>
              <a:t>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ABB67D-185A-FFB4-9CD0-54B1FADE4033}"/>
              </a:ext>
            </a:extLst>
          </p:cNvPr>
          <p:cNvSpPr/>
          <p:nvPr/>
        </p:nvSpPr>
        <p:spPr>
          <a:xfrm>
            <a:off x="1390880" y="3162300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5V USB battery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05B66C-DE51-7BAC-39DE-E30A96A4D24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952980" y="3619500"/>
            <a:ext cx="647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CE8804A-EE63-9450-98D6-6EE2740A2B84}"/>
              </a:ext>
            </a:extLst>
          </p:cNvPr>
          <p:cNvSpPr txBox="1"/>
          <p:nvPr/>
        </p:nvSpPr>
        <p:spPr>
          <a:xfrm>
            <a:off x="6096000" y="2237897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C12C6-9F6F-4315-505C-9C70A0501B90}"/>
              </a:ext>
            </a:extLst>
          </p:cNvPr>
          <p:cNvSpPr txBox="1"/>
          <p:nvPr/>
        </p:nvSpPr>
        <p:spPr>
          <a:xfrm>
            <a:off x="6251154" y="3495685"/>
            <a:ext cx="83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PWM/</a:t>
            </a:r>
          </a:p>
          <a:p>
            <a:r>
              <a:rPr lang="en-US" sz="1200" dirty="0"/>
              <a:t>I2S?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CD9D0-896A-28B8-B4D7-CB2306CC5CF6}"/>
              </a:ext>
            </a:extLst>
          </p:cNvPr>
          <p:cNvSpPr txBox="1"/>
          <p:nvPr/>
        </p:nvSpPr>
        <p:spPr>
          <a:xfrm>
            <a:off x="6210300" y="4724059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I2C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3345C9-174F-2948-D7F3-A59C08374394}"/>
              </a:ext>
            </a:extLst>
          </p:cNvPr>
          <p:cNvCxnSpPr/>
          <p:nvPr/>
        </p:nvCxnSpPr>
        <p:spPr>
          <a:xfrm>
            <a:off x="6842852" y="2400300"/>
            <a:ext cx="1501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A6CAEC-C3E1-5F5E-45D0-70D89A897001}"/>
              </a:ext>
            </a:extLst>
          </p:cNvPr>
          <p:cNvCxnSpPr>
            <a:cxnSpLocks/>
          </p:cNvCxnSpPr>
          <p:nvPr/>
        </p:nvCxnSpPr>
        <p:spPr>
          <a:xfrm flipV="1">
            <a:off x="7391400" y="15621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2CD3A2-F873-D38A-396D-6F8686A48382}"/>
              </a:ext>
            </a:extLst>
          </p:cNvPr>
          <p:cNvCxnSpPr/>
          <p:nvPr/>
        </p:nvCxnSpPr>
        <p:spPr>
          <a:xfrm>
            <a:off x="7391400" y="1562100"/>
            <a:ext cx="952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43555B-9088-DF30-A859-1D40A0CEC62A}"/>
              </a:ext>
            </a:extLst>
          </p:cNvPr>
          <p:cNvCxnSpPr>
            <a:cxnSpLocks/>
          </p:cNvCxnSpPr>
          <p:nvPr/>
        </p:nvCxnSpPr>
        <p:spPr>
          <a:xfrm>
            <a:off x="6847442" y="3713206"/>
            <a:ext cx="8868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7DD323D-8ECC-E165-68B9-CF85E0050A9B}"/>
              </a:ext>
            </a:extLst>
          </p:cNvPr>
          <p:cNvCxnSpPr/>
          <p:nvPr/>
        </p:nvCxnSpPr>
        <p:spPr>
          <a:xfrm>
            <a:off x="6842852" y="4914900"/>
            <a:ext cx="1501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6329C6F-D04D-91C1-C054-0932AD967587}"/>
              </a:ext>
            </a:extLst>
          </p:cNvPr>
          <p:cNvSpPr/>
          <p:nvPr/>
        </p:nvSpPr>
        <p:spPr>
          <a:xfrm>
            <a:off x="8343900" y="1981200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LED (</a:t>
            </a: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WS2812B)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01315CD-DD54-1864-2595-88D26BAF283B}"/>
              </a:ext>
            </a:extLst>
          </p:cNvPr>
          <p:cNvSpPr/>
          <p:nvPr/>
        </p:nvSpPr>
        <p:spPr>
          <a:xfrm>
            <a:off x="10183258" y="3269318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Speaker</a:t>
            </a:r>
          </a:p>
          <a:p>
            <a:pPr algn="ctr"/>
            <a:r>
              <a:rPr lang="en-US" dirty="0"/>
              <a:t>(</a:t>
            </a:r>
            <a:r>
              <a:rPr lang="en-US" b="0" i="0" dirty="0" err="1">
                <a:solidFill>
                  <a:srgbClr val="0F1111"/>
                </a:solidFill>
                <a:effectLst/>
                <a:latin typeface="Amazon Ember"/>
              </a:rPr>
              <a:t>MakerHawk</a:t>
            </a: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)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EDB505A-BF46-A9AD-5116-1EE287E4B421}"/>
              </a:ext>
            </a:extLst>
          </p:cNvPr>
          <p:cNvSpPr/>
          <p:nvPr/>
        </p:nvSpPr>
        <p:spPr>
          <a:xfrm>
            <a:off x="8353080" y="4451525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Motion Sensor (</a:t>
            </a: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MPU-6050)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5DEEC98-6BBB-3889-BA68-3E823D424AB4}"/>
              </a:ext>
            </a:extLst>
          </p:cNvPr>
          <p:cNvSpPr/>
          <p:nvPr/>
        </p:nvSpPr>
        <p:spPr>
          <a:xfrm>
            <a:off x="7734300" y="3256006"/>
            <a:ext cx="1562100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Digital Amplifier (</a:t>
            </a:r>
            <a:r>
              <a:rPr lang="en-US" b="0" i="0" dirty="0">
                <a:solidFill>
                  <a:srgbClr val="000000"/>
                </a:solidFill>
                <a:effectLst/>
                <a:latin typeface="Proxima Nova"/>
              </a:rPr>
              <a:t>MAX98357)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65FEF72-515F-3C63-5AE6-F7637EF84755}"/>
              </a:ext>
            </a:extLst>
          </p:cNvPr>
          <p:cNvCxnSpPr>
            <a:cxnSpLocks/>
          </p:cNvCxnSpPr>
          <p:nvPr/>
        </p:nvCxnSpPr>
        <p:spPr>
          <a:xfrm>
            <a:off x="9296400" y="3700875"/>
            <a:ext cx="8868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F7FEAB5-ABCF-7593-572A-224745549935}"/>
              </a:ext>
            </a:extLst>
          </p:cNvPr>
          <p:cNvSpPr/>
          <p:nvPr/>
        </p:nvSpPr>
        <p:spPr>
          <a:xfrm>
            <a:off x="8343900" y="1343833"/>
            <a:ext cx="1562100" cy="42781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3X Buttons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BD08C7-1A39-9AC7-D809-D5B035ACC1A1}"/>
              </a:ext>
            </a:extLst>
          </p:cNvPr>
          <p:cNvSpPr txBox="1"/>
          <p:nvPr/>
        </p:nvSpPr>
        <p:spPr>
          <a:xfrm>
            <a:off x="3043433" y="30215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01EFAD-E39C-EDE1-39F3-41A33E5CE669}"/>
              </a:ext>
            </a:extLst>
          </p:cNvPr>
          <p:cNvSpPr txBox="1"/>
          <p:nvPr/>
        </p:nvSpPr>
        <p:spPr>
          <a:xfrm>
            <a:off x="7633358" y="20690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36A948-5727-4907-D8A5-9CC207DC8EC8}"/>
              </a:ext>
            </a:extLst>
          </p:cNvPr>
          <p:cNvSpPr txBox="1"/>
          <p:nvPr/>
        </p:nvSpPr>
        <p:spPr>
          <a:xfrm>
            <a:off x="7123370" y="336213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EF9371-12CA-4AC9-6878-2856233D8AFA}"/>
              </a:ext>
            </a:extLst>
          </p:cNvPr>
          <p:cNvSpPr txBox="1"/>
          <p:nvPr/>
        </p:nvSpPr>
        <p:spPr>
          <a:xfrm>
            <a:off x="9346432" y="3343874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3.3/5V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7F669B-6AB4-BF55-B982-23BA989BC81B}"/>
              </a:ext>
            </a:extLst>
          </p:cNvPr>
          <p:cNvSpPr txBox="1"/>
          <p:nvPr/>
        </p:nvSpPr>
        <p:spPr>
          <a:xfrm>
            <a:off x="7176162" y="456778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3.3V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FD5CF1-79BC-0FA2-1370-3A965E769ADB}"/>
              </a:ext>
            </a:extLst>
          </p:cNvPr>
          <p:cNvSpPr txBox="1"/>
          <p:nvPr/>
        </p:nvSpPr>
        <p:spPr>
          <a:xfrm>
            <a:off x="7086600" y="4933251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3.9mA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A666CC-A1C7-6EF2-4C14-83E317A48B0A}"/>
              </a:ext>
            </a:extLst>
          </p:cNvPr>
          <p:cNvSpPr txBox="1"/>
          <p:nvPr/>
        </p:nvSpPr>
        <p:spPr>
          <a:xfrm>
            <a:off x="6826010" y="369787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2.75mA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D8BA2E-4296-0F26-729A-F534D9D75281}"/>
              </a:ext>
            </a:extLst>
          </p:cNvPr>
          <p:cNvSpPr txBox="1"/>
          <p:nvPr/>
        </p:nvSpPr>
        <p:spPr>
          <a:xfrm>
            <a:off x="7535395" y="2441315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1µA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AFDC9-502E-4AB7-EC0D-C152B8233C1F}"/>
              </a:ext>
            </a:extLst>
          </p:cNvPr>
          <p:cNvSpPr txBox="1"/>
          <p:nvPr/>
        </p:nvSpPr>
        <p:spPr>
          <a:xfrm>
            <a:off x="7546989" y="119276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3.3V</a:t>
            </a:r>
          </a:p>
        </p:txBody>
      </p:sp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309228-FF81-0229-4EC8-D550168EE0CC}"/>
              </a:ext>
            </a:extLst>
          </p:cNvPr>
          <p:cNvSpPr/>
          <p:nvPr/>
        </p:nvSpPr>
        <p:spPr>
          <a:xfrm>
            <a:off x="533400" y="495300"/>
            <a:ext cx="1181100" cy="495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PocketBeagle</a:t>
            </a:r>
            <a:r>
              <a:rPr lang="en-US" sz="1200" dirty="0"/>
              <a:t> off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D596BE-ABC5-79F6-4A65-0471649F9F82}"/>
              </a:ext>
            </a:extLst>
          </p:cNvPr>
          <p:cNvSpPr/>
          <p:nvPr/>
        </p:nvSpPr>
        <p:spPr>
          <a:xfrm>
            <a:off x="2923508" y="503267"/>
            <a:ext cx="1181100" cy="495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PocketBeagle</a:t>
            </a:r>
            <a:r>
              <a:rPr lang="en-US" sz="1200" dirty="0"/>
              <a:t> in idle state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188F0D-94B2-6E63-14B7-BB8679D7983F}"/>
              </a:ext>
            </a:extLst>
          </p:cNvPr>
          <p:cNvSpPr/>
          <p:nvPr/>
        </p:nvSpPr>
        <p:spPr>
          <a:xfrm>
            <a:off x="5887784" y="330075"/>
            <a:ext cx="1257300" cy="952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Lightsaber ignites with ignition sound and light up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B5A3D1-D1A0-B895-AB92-682DADBD2F33}"/>
              </a:ext>
            </a:extLst>
          </p:cNvPr>
          <p:cNvSpPr/>
          <p:nvPr/>
        </p:nvSpPr>
        <p:spPr>
          <a:xfrm>
            <a:off x="5887784" y="1722550"/>
            <a:ext cx="1257300" cy="1409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Lightsaber in idle state.</a:t>
            </a:r>
          </a:p>
          <a:p>
            <a:pPr algn="ctr"/>
            <a:r>
              <a:rPr lang="en-US" sz="1200" dirty="0"/>
              <a:t>No motion: slow light flickering, low humming sounds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8109017-3044-B51D-24AD-32B1AAB9EC6B}"/>
              </a:ext>
            </a:extLst>
          </p:cNvPr>
          <p:cNvSpPr/>
          <p:nvPr/>
        </p:nvSpPr>
        <p:spPr>
          <a:xfrm>
            <a:off x="5906028" y="3937139"/>
            <a:ext cx="1257300" cy="10912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motion state: </a:t>
            </a:r>
          </a:p>
          <a:p>
            <a:pPr algn="ctr"/>
            <a:r>
              <a:rPr lang="en-US" sz="1200" dirty="0"/>
              <a:t>light flickering, swing sounds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2DB6549-EBA5-CBC3-C692-F3424DA57B89}"/>
              </a:ext>
            </a:extLst>
          </p:cNvPr>
          <p:cNvSpPr/>
          <p:nvPr/>
        </p:nvSpPr>
        <p:spPr>
          <a:xfrm>
            <a:off x="5906028" y="5821869"/>
            <a:ext cx="1257300" cy="8433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contact state: </a:t>
            </a:r>
          </a:p>
          <a:p>
            <a:pPr algn="ctr"/>
            <a:r>
              <a:rPr lang="en-US" sz="1200" dirty="0"/>
              <a:t>light flash white, contact sound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8E1B0F-57E1-E23C-82A1-A46703B8EAB4}"/>
              </a:ext>
            </a:extLst>
          </p:cNvPr>
          <p:cNvSpPr txBox="1"/>
          <p:nvPr/>
        </p:nvSpPr>
        <p:spPr>
          <a:xfrm>
            <a:off x="7354548" y="1898672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Tap button 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3FCB1B6-1BF1-286C-2D9A-1FEE3A9F156D}"/>
              </a:ext>
            </a:extLst>
          </p:cNvPr>
          <p:cNvSpPr/>
          <p:nvPr/>
        </p:nvSpPr>
        <p:spPr>
          <a:xfrm>
            <a:off x="8850085" y="1615848"/>
            <a:ext cx="1210150" cy="565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Cycle through lightsaber colors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E7531-1789-6F37-8E2E-7FD5F99E1FD3}"/>
              </a:ext>
            </a:extLst>
          </p:cNvPr>
          <p:cNvSpPr txBox="1"/>
          <p:nvPr/>
        </p:nvSpPr>
        <p:spPr>
          <a:xfrm>
            <a:off x="7359576" y="2526252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Tap button 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B3A3DA6-96F5-01CD-0630-DFA005476DAA}"/>
              </a:ext>
            </a:extLst>
          </p:cNvPr>
          <p:cNvSpPr/>
          <p:nvPr/>
        </p:nvSpPr>
        <p:spPr>
          <a:xfrm>
            <a:off x="8602769" y="2520408"/>
            <a:ext cx="1447800" cy="6118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Lightsaber sound mode muted/unmuted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8A5F309-C6D6-CCC6-ABA0-9658D07E6F7B}"/>
              </a:ext>
            </a:extLst>
          </p:cNvPr>
          <p:cNvSpPr/>
          <p:nvPr/>
        </p:nvSpPr>
        <p:spPr>
          <a:xfrm>
            <a:off x="10553700" y="2344875"/>
            <a:ext cx="1447800" cy="9629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Muted/unmuted current mode feedback sound played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7DAAE0-C0F2-77CB-F79F-07197F7742E8}"/>
              </a:ext>
            </a:extLst>
          </p:cNvPr>
          <p:cNvSpPr txBox="1"/>
          <p:nvPr/>
        </p:nvSpPr>
        <p:spPr>
          <a:xfrm>
            <a:off x="5530637" y="3319386"/>
            <a:ext cx="974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If lightsaber swung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6343EE-5314-9D44-5A77-994EB629DB41}"/>
              </a:ext>
            </a:extLst>
          </p:cNvPr>
          <p:cNvSpPr txBox="1"/>
          <p:nvPr/>
        </p:nvSpPr>
        <p:spPr>
          <a:xfrm>
            <a:off x="5141417" y="4263238"/>
            <a:ext cx="723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Return to idle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4D72E6-D11C-EFE2-D1E1-7445B88B53E1}"/>
              </a:ext>
            </a:extLst>
          </p:cNvPr>
          <p:cNvSpPr txBox="1"/>
          <p:nvPr/>
        </p:nvSpPr>
        <p:spPr>
          <a:xfrm>
            <a:off x="5530637" y="5109129"/>
            <a:ext cx="105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If lightsaber contact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C284A8-ABB6-9952-7534-B90BE53C2808}"/>
              </a:ext>
            </a:extLst>
          </p:cNvPr>
          <p:cNvSpPr txBox="1"/>
          <p:nvPr/>
        </p:nvSpPr>
        <p:spPr>
          <a:xfrm>
            <a:off x="1760071" y="479193"/>
            <a:ext cx="1472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Press button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B9ABE0-C9FA-594A-E881-DFF4DE90FC35}"/>
              </a:ext>
            </a:extLst>
          </p:cNvPr>
          <p:cNvSpPr txBox="1"/>
          <p:nvPr/>
        </p:nvSpPr>
        <p:spPr>
          <a:xfrm>
            <a:off x="4392385" y="494905"/>
            <a:ext cx="1472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Hold button 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F908D9-3692-553C-3159-F35E7C83868C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1714500" y="742950"/>
            <a:ext cx="1209008" cy="7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0A134B-065E-DC41-7610-ADC5A4B58DB1}"/>
              </a:ext>
            </a:extLst>
          </p:cNvPr>
          <p:cNvCxnSpPr>
            <a:cxnSpLocks/>
          </p:cNvCxnSpPr>
          <p:nvPr/>
        </p:nvCxnSpPr>
        <p:spPr>
          <a:xfrm>
            <a:off x="4077446" y="734983"/>
            <a:ext cx="1794009" cy="15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A69F20-DE45-18C8-A512-C3116B12488E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6516434" y="1282575"/>
            <a:ext cx="0" cy="439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89D8AF0-322C-CF2E-3880-E793BA6233DE}"/>
              </a:ext>
            </a:extLst>
          </p:cNvPr>
          <p:cNvSpPr txBox="1"/>
          <p:nvPr/>
        </p:nvSpPr>
        <p:spPr>
          <a:xfrm>
            <a:off x="4623013" y="2101629"/>
            <a:ext cx="1472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Hold button 2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B226BC1-976F-7D74-7A00-887F8CB56154}"/>
              </a:ext>
            </a:extLst>
          </p:cNvPr>
          <p:cNvCxnSpPr>
            <a:cxnSpLocks/>
            <a:stCxn id="81" idx="0"/>
          </p:cNvCxnSpPr>
          <p:nvPr/>
        </p:nvCxnSpPr>
        <p:spPr>
          <a:xfrm flipH="1" flipV="1">
            <a:off x="3849434" y="990600"/>
            <a:ext cx="9552" cy="889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0AE389-9F33-A0ED-CCAB-47A63E40C961}"/>
              </a:ext>
            </a:extLst>
          </p:cNvPr>
          <p:cNvCxnSpPr>
            <a:cxnSpLocks/>
          </p:cNvCxnSpPr>
          <p:nvPr/>
        </p:nvCxnSpPr>
        <p:spPr>
          <a:xfrm flipH="1" flipV="1">
            <a:off x="1123950" y="1603196"/>
            <a:ext cx="2038350" cy="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5710B01-E997-A2F6-F314-7FC5A84E6502}"/>
              </a:ext>
            </a:extLst>
          </p:cNvPr>
          <p:cNvCxnSpPr>
            <a:cxnSpLocks/>
          </p:cNvCxnSpPr>
          <p:nvPr/>
        </p:nvCxnSpPr>
        <p:spPr>
          <a:xfrm flipV="1">
            <a:off x="1123950" y="1004150"/>
            <a:ext cx="0" cy="599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093FFFB-B6FE-454E-BA59-3D3643150F0A}"/>
              </a:ext>
            </a:extLst>
          </p:cNvPr>
          <p:cNvSpPr txBox="1"/>
          <p:nvPr/>
        </p:nvSpPr>
        <p:spPr>
          <a:xfrm>
            <a:off x="1514450" y="1308243"/>
            <a:ext cx="1472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Press button 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E578450-DD63-BA21-39F5-3462960A68FD}"/>
              </a:ext>
            </a:extLst>
          </p:cNvPr>
          <p:cNvCxnSpPr>
            <a:cxnSpLocks/>
          </p:cNvCxnSpPr>
          <p:nvPr/>
        </p:nvCxnSpPr>
        <p:spPr>
          <a:xfrm flipH="1">
            <a:off x="5023102" y="4699431"/>
            <a:ext cx="882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ADCC3D5-06FF-A3B7-601D-E477A4D163B9}"/>
              </a:ext>
            </a:extLst>
          </p:cNvPr>
          <p:cNvCxnSpPr/>
          <p:nvPr/>
        </p:nvCxnSpPr>
        <p:spPr>
          <a:xfrm>
            <a:off x="3162300" y="990600"/>
            <a:ext cx="0" cy="612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24D3DBC-60C0-4DD9-8078-B3ADB045AF04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7145084" y="2826329"/>
            <a:ext cx="1457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D2A8895-84B3-CDB1-45DE-21351AE8626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0050569" y="2826329"/>
            <a:ext cx="5031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3175C6C-986B-4732-6105-3241705FB10E}"/>
              </a:ext>
            </a:extLst>
          </p:cNvPr>
          <p:cNvCxnSpPr>
            <a:cxnSpLocks/>
          </p:cNvCxnSpPr>
          <p:nvPr/>
        </p:nvCxnSpPr>
        <p:spPr>
          <a:xfrm>
            <a:off x="11227171" y="3307782"/>
            <a:ext cx="0" cy="242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E137D70-F77F-5F99-ADE4-CF9E0C293CA1}"/>
              </a:ext>
            </a:extLst>
          </p:cNvPr>
          <p:cNvCxnSpPr>
            <a:cxnSpLocks/>
          </p:cNvCxnSpPr>
          <p:nvPr/>
        </p:nvCxnSpPr>
        <p:spPr>
          <a:xfrm>
            <a:off x="7873926" y="3550219"/>
            <a:ext cx="3353245" cy="12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049977F-E700-790F-CE92-6F22430AB68F}"/>
              </a:ext>
            </a:extLst>
          </p:cNvPr>
          <p:cNvCxnSpPr>
            <a:cxnSpLocks/>
          </p:cNvCxnSpPr>
          <p:nvPr/>
        </p:nvCxnSpPr>
        <p:spPr>
          <a:xfrm flipH="1" flipV="1">
            <a:off x="7048500" y="3068767"/>
            <a:ext cx="825425" cy="493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6FD1122-AA66-2328-B866-5774A7974BA7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534678" y="3132250"/>
            <a:ext cx="378" cy="804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1885E6F3-BAE3-A38B-38FA-849D1E6D2BF4}"/>
              </a:ext>
            </a:extLst>
          </p:cNvPr>
          <p:cNvSpPr/>
          <p:nvPr/>
        </p:nvSpPr>
        <p:spPr>
          <a:xfrm>
            <a:off x="3242482" y="1880195"/>
            <a:ext cx="1233008" cy="10946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Lightsaber de-ignites with de-ignition sound and light off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2EC0C40-9099-2F7D-384F-FB8F8F7C079D}"/>
              </a:ext>
            </a:extLst>
          </p:cNvPr>
          <p:cNvCxnSpPr>
            <a:cxnSpLocks/>
            <a:stCxn id="10" idx="1"/>
            <a:endCxn id="81" idx="3"/>
          </p:cNvCxnSpPr>
          <p:nvPr/>
        </p:nvCxnSpPr>
        <p:spPr>
          <a:xfrm flipH="1">
            <a:off x="4475490" y="2427400"/>
            <a:ext cx="1412294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0EB0746F-2482-EE5B-ED6D-A83BD6E67389}"/>
              </a:ext>
            </a:extLst>
          </p:cNvPr>
          <p:cNvSpPr txBox="1"/>
          <p:nvPr/>
        </p:nvSpPr>
        <p:spPr>
          <a:xfrm>
            <a:off x="5124433" y="5951501"/>
            <a:ext cx="723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Return to idle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AC59D9B-9366-DB3B-2FEE-CBFDEFE38F0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6534678" y="5028432"/>
            <a:ext cx="0" cy="793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BA4D0E2-90F0-D055-BAE5-EF49EF7FF908}"/>
              </a:ext>
            </a:extLst>
          </p:cNvPr>
          <p:cNvCxnSpPr>
            <a:cxnSpLocks/>
          </p:cNvCxnSpPr>
          <p:nvPr/>
        </p:nvCxnSpPr>
        <p:spPr>
          <a:xfrm flipH="1">
            <a:off x="5007218" y="6362700"/>
            <a:ext cx="931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CF67509-16F7-A201-5A30-6573EA50FDE9}"/>
              </a:ext>
            </a:extLst>
          </p:cNvPr>
          <p:cNvCxnSpPr>
            <a:cxnSpLocks/>
          </p:cNvCxnSpPr>
          <p:nvPr/>
        </p:nvCxnSpPr>
        <p:spPr>
          <a:xfrm>
            <a:off x="5023102" y="2826328"/>
            <a:ext cx="0" cy="3536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2CD5460-BC02-7FCF-FF6C-280EBD7520D2}"/>
              </a:ext>
            </a:extLst>
          </p:cNvPr>
          <p:cNvCxnSpPr>
            <a:cxnSpLocks/>
          </p:cNvCxnSpPr>
          <p:nvPr/>
        </p:nvCxnSpPr>
        <p:spPr>
          <a:xfrm>
            <a:off x="5024435" y="2824086"/>
            <a:ext cx="881355" cy="13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A096EAF-E46F-5A17-F88C-6E1E85F23FDA}"/>
              </a:ext>
            </a:extLst>
          </p:cNvPr>
          <p:cNvCxnSpPr>
            <a:cxnSpLocks/>
          </p:cNvCxnSpPr>
          <p:nvPr/>
        </p:nvCxnSpPr>
        <p:spPr>
          <a:xfrm>
            <a:off x="7147112" y="1909686"/>
            <a:ext cx="17029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23D09417-42E2-5895-5A8F-5041E71AF522}"/>
              </a:ext>
            </a:extLst>
          </p:cNvPr>
          <p:cNvSpPr/>
          <p:nvPr/>
        </p:nvSpPr>
        <p:spPr>
          <a:xfrm>
            <a:off x="10522045" y="1357701"/>
            <a:ext cx="1295400" cy="7296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blade changes color on each press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C652273-2E05-815C-F4B2-CACBE7CD282C}"/>
              </a:ext>
            </a:extLst>
          </p:cNvPr>
          <p:cNvCxnSpPr>
            <a:cxnSpLocks/>
          </p:cNvCxnSpPr>
          <p:nvPr/>
        </p:nvCxnSpPr>
        <p:spPr>
          <a:xfrm>
            <a:off x="10018914" y="1880195"/>
            <a:ext cx="5031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83631E5-26DF-1988-5260-A972DF3406EB}"/>
              </a:ext>
            </a:extLst>
          </p:cNvPr>
          <p:cNvCxnSpPr>
            <a:cxnSpLocks/>
          </p:cNvCxnSpPr>
          <p:nvPr/>
        </p:nvCxnSpPr>
        <p:spPr>
          <a:xfrm flipH="1">
            <a:off x="7078574" y="1053153"/>
            <a:ext cx="780526" cy="730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B2FFD04-936B-5679-FF19-5FAB0211C503}"/>
              </a:ext>
            </a:extLst>
          </p:cNvPr>
          <p:cNvCxnSpPr>
            <a:cxnSpLocks/>
          </p:cNvCxnSpPr>
          <p:nvPr/>
        </p:nvCxnSpPr>
        <p:spPr>
          <a:xfrm>
            <a:off x="7868898" y="1053530"/>
            <a:ext cx="327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CE97D55-B489-F4A2-7F86-157978952010}"/>
              </a:ext>
            </a:extLst>
          </p:cNvPr>
          <p:cNvCxnSpPr>
            <a:cxnSpLocks/>
          </p:cNvCxnSpPr>
          <p:nvPr/>
        </p:nvCxnSpPr>
        <p:spPr>
          <a:xfrm>
            <a:off x="11145198" y="1039828"/>
            <a:ext cx="0" cy="317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89401150-43FC-1872-490F-B6FA0F1F1E0C}"/>
              </a:ext>
            </a:extLst>
          </p:cNvPr>
          <p:cNvSpPr/>
          <p:nvPr/>
        </p:nvSpPr>
        <p:spPr>
          <a:xfrm>
            <a:off x="593271" y="5615242"/>
            <a:ext cx="1295400" cy="8312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PocketBeagle</a:t>
            </a:r>
            <a:r>
              <a:rPr lang="en-US" sz="1200" dirty="0"/>
              <a:t> power off at any point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E41337D-1091-A316-C8F4-8D816DC04CC4}"/>
              </a:ext>
            </a:extLst>
          </p:cNvPr>
          <p:cNvSpPr txBox="1"/>
          <p:nvPr/>
        </p:nvSpPr>
        <p:spPr>
          <a:xfrm>
            <a:off x="661967" y="4761211"/>
            <a:ext cx="1472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Press button 1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2A324E60-518E-E92A-7055-F0FA305BCF99}"/>
              </a:ext>
            </a:extLst>
          </p:cNvPr>
          <p:cNvCxnSpPr>
            <a:endCxn id="121" idx="0"/>
          </p:cNvCxnSpPr>
          <p:nvPr/>
        </p:nvCxnSpPr>
        <p:spPr>
          <a:xfrm>
            <a:off x="1240971" y="5038210"/>
            <a:ext cx="0" cy="577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itle 1">
            <a:extLst>
              <a:ext uri="{FF2B5EF4-FFF2-40B4-BE49-F238E27FC236}">
                <a16:creationId xmlns:a16="http://schemas.microsoft.com/office/drawing/2014/main" id="{099968C0-4112-4CE7-F59D-A15FA38ABAED}"/>
              </a:ext>
            </a:extLst>
          </p:cNvPr>
          <p:cNvSpPr txBox="1">
            <a:spLocks/>
          </p:cNvSpPr>
          <p:nvPr/>
        </p:nvSpPr>
        <p:spPr>
          <a:xfrm>
            <a:off x="8458200" y="5360971"/>
            <a:ext cx="4479447" cy="9144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Software Block Diagram</a:t>
            </a:r>
          </a:p>
        </p:txBody>
      </p:sp>
    </p:spTree>
    <p:extLst>
      <p:ext uri="{BB962C8B-B14F-4D97-AF65-F5344CB8AC3E}">
        <p14:creationId xmlns:p14="http://schemas.microsoft.com/office/powerpoint/2010/main" val="336103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295400"/>
          <a:ext cx="10972800" cy="32359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LED Reel (16.4ft) https://</a:t>
                      </a:r>
                      <a:r>
                        <a:rPr lang="en-US" dirty="0" err="1"/>
                        <a:t>tinyurl.com</a:t>
                      </a:r>
                      <a:r>
                        <a:rPr lang="en-US" dirty="0"/>
                        <a:t>/4jxemw7m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$27.99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IMU 5pc (1x) https://</a:t>
                      </a:r>
                      <a:r>
                        <a:rPr lang="en-US" dirty="0" err="1"/>
                        <a:t>tinyurl.com</a:t>
                      </a:r>
                      <a:r>
                        <a:rPr lang="en-US" dirty="0"/>
                        <a:t>/rvzbvbs3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$12.99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Speakers 2pc (1x) https://</a:t>
                      </a:r>
                      <a:r>
                        <a:rPr lang="en-US" dirty="0" err="1"/>
                        <a:t>tinyurl.com</a:t>
                      </a:r>
                      <a:r>
                        <a:rPr lang="en-US" dirty="0"/>
                        <a:t>/mrjkcks7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$11.99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9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Digital Amplifier 1pc (1x) https://</a:t>
                      </a:r>
                      <a:r>
                        <a:rPr lang="en-US" dirty="0" err="1"/>
                        <a:t>tinyurl.com</a:t>
                      </a:r>
                      <a:r>
                        <a:rPr lang="en-US" dirty="0"/>
                        <a:t>/ytxx6y4v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4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5V USB battery 2pc (1x) https://</a:t>
                      </a:r>
                      <a:r>
                        <a:rPr lang="en-US" dirty="0" err="1"/>
                        <a:t>tinyurl.com</a:t>
                      </a:r>
                      <a:r>
                        <a:rPr lang="en-US" dirty="0"/>
                        <a:t>/3b3eus2b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$17.99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35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7084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2185241-07D3-4DBE-0B4A-F54A9F952444}"/>
              </a:ext>
            </a:extLst>
          </p:cNvPr>
          <p:cNvSpPr txBox="1"/>
          <p:nvPr/>
        </p:nvSpPr>
        <p:spPr>
          <a:xfrm>
            <a:off x="609601" y="4800600"/>
            <a:ext cx="1097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As some of these parts come with multiple units, Liam and I will be sharing the parts and distributing the costs between us. Thus, the total expenses from EDES301 will not exceed $35 for each of us. Any additional costs will be provided by us.</a:t>
            </a:r>
          </a:p>
        </p:txBody>
      </p:sp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92C5-BA1F-27F4-0ACA-3FB05F35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of Labor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1A05-C6AC-AE90-B575-B58371B94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Liam and I are both working on similar projects, we are dividing systems for each of us to individually work on. The division of labor is as follows:</a:t>
            </a:r>
          </a:p>
          <a:p>
            <a:r>
              <a:rPr lang="en-US" dirty="0"/>
              <a:t>Mustafa</a:t>
            </a:r>
          </a:p>
          <a:p>
            <a:pPr lvl="1"/>
            <a:r>
              <a:rPr lang="en-US" dirty="0"/>
              <a:t>Buttons</a:t>
            </a:r>
          </a:p>
          <a:p>
            <a:pPr lvl="1"/>
            <a:r>
              <a:rPr lang="en-US" dirty="0"/>
              <a:t>LED</a:t>
            </a:r>
          </a:p>
          <a:p>
            <a:pPr lvl="1"/>
            <a:r>
              <a:rPr lang="en-US" dirty="0"/>
              <a:t>IMU</a:t>
            </a:r>
          </a:p>
          <a:p>
            <a:r>
              <a:rPr lang="en-US" dirty="0"/>
              <a:t>Liam</a:t>
            </a:r>
          </a:p>
          <a:p>
            <a:pPr lvl="1"/>
            <a:r>
              <a:rPr lang="en-US" dirty="0"/>
              <a:t>Touch Screen</a:t>
            </a:r>
          </a:p>
          <a:p>
            <a:pPr lvl="1"/>
            <a:r>
              <a:rPr lang="en-US" dirty="0"/>
              <a:t>Speaker</a:t>
            </a:r>
          </a:p>
          <a:p>
            <a:pPr lvl="1"/>
            <a:r>
              <a:rPr lang="en-US" dirty="0"/>
              <a:t>IMU</a:t>
            </a:r>
          </a:p>
          <a:p>
            <a:r>
              <a:rPr lang="en-US" dirty="0"/>
              <a:t>Both of us will work on IMU as this is the main source of data that drives the other components</a:t>
            </a:r>
          </a:p>
        </p:txBody>
      </p:sp>
    </p:spTree>
    <p:extLst>
      <p:ext uri="{BB962C8B-B14F-4D97-AF65-F5344CB8AC3E}">
        <p14:creationId xmlns:p14="http://schemas.microsoft.com/office/powerpoint/2010/main" val="413610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0C6-AA0A-4ECF-9541-CCAFC7CA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Mechanical Drawing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DD3B4A-5172-D79B-97C3-31CD26A8BF30}"/>
              </a:ext>
            </a:extLst>
          </p:cNvPr>
          <p:cNvSpPr/>
          <p:nvPr/>
        </p:nvSpPr>
        <p:spPr>
          <a:xfrm>
            <a:off x="4229101" y="1167848"/>
            <a:ext cx="3581399" cy="45223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CFD737D-C697-ED4B-5263-0E158BBC9724}"/>
              </a:ext>
            </a:extLst>
          </p:cNvPr>
          <p:cNvCxnSpPr>
            <a:cxnSpLocks/>
          </p:cNvCxnSpPr>
          <p:nvPr/>
        </p:nvCxnSpPr>
        <p:spPr>
          <a:xfrm>
            <a:off x="4229101" y="1066800"/>
            <a:ext cx="11049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009C455-9FDD-E948-1F8D-776A3F2882C5}"/>
              </a:ext>
            </a:extLst>
          </p:cNvPr>
          <p:cNvCxnSpPr>
            <a:cxnSpLocks/>
          </p:cNvCxnSpPr>
          <p:nvPr/>
        </p:nvCxnSpPr>
        <p:spPr>
          <a:xfrm>
            <a:off x="6858000" y="1066800"/>
            <a:ext cx="9525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617A49A-5C83-0E67-21A7-25ED9411E790}"/>
              </a:ext>
            </a:extLst>
          </p:cNvPr>
          <p:cNvCxnSpPr>
            <a:cxnSpLocks/>
          </p:cNvCxnSpPr>
          <p:nvPr/>
        </p:nvCxnSpPr>
        <p:spPr>
          <a:xfrm>
            <a:off x="7810500" y="1015448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96181B-0E71-B669-D9CF-FB72642E98E2}"/>
              </a:ext>
            </a:extLst>
          </p:cNvPr>
          <p:cNvCxnSpPr>
            <a:cxnSpLocks/>
          </p:cNvCxnSpPr>
          <p:nvPr/>
        </p:nvCxnSpPr>
        <p:spPr>
          <a:xfrm>
            <a:off x="4229101" y="980303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4C8AD7F-FD7A-BB60-53F0-C94872E32817}"/>
              </a:ext>
            </a:extLst>
          </p:cNvPr>
          <p:cNvSpPr txBox="1"/>
          <p:nvPr/>
        </p:nvSpPr>
        <p:spPr>
          <a:xfrm>
            <a:off x="5802490" y="805934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2.9”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5A810C7-86A1-CB05-CD71-611DE07CDA54}"/>
              </a:ext>
            </a:extLst>
          </p:cNvPr>
          <p:cNvCxnSpPr>
            <a:cxnSpLocks/>
          </p:cNvCxnSpPr>
          <p:nvPr/>
        </p:nvCxnSpPr>
        <p:spPr>
          <a:xfrm>
            <a:off x="8039100" y="1167848"/>
            <a:ext cx="0" cy="1842052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B3DE479-A554-4944-04D6-E6198033C915}"/>
              </a:ext>
            </a:extLst>
          </p:cNvPr>
          <p:cNvCxnSpPr>
            <a:cxnSpLocks/>
          </p:cNvCxnSpPr>
          <p:nvPr/>
        </p:nvCxnSpPr>
        <p:spPr>
          <a:xfrm>
            <a:off x="7962900" y="1167848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AF0B92A-7D46-C030-6EBE-CD2A00AE60E1}"/>
              </a:ext>
            </a:extLst>
          </p:cNvPr>
          <p:cNvCxnSpPr>
            <a:cxnSpLocks/>
          </p:cNvCxnSpPr>
          <p:nvPr/>
        </p:nvCxnSpPr>
        <p:spPr>
          <a:xfrm flipV="1">
            <a:off x="8039100" y="3886200"/>
            <a:ext cx="0" cy="1803952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03867B3-BB5B-19A0-0DAE-55A5CA48282D}"/>
              </a:ext>
            </a:extLst>
          </p:cNvPr>
          <p:cNvCxnSpPr>
            <a:cxnSpLocks/>
          </p:cNvCxnSpPr>
          <p:nvPr/>
        </p:nvCxnSpPr>
        <p:spPr>
          <a:xfrm>
            <a:off x="7962900" y="5690152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80EE251-7B08-A7E4-208E-DF44141BC949}"/>
              </a:ext>
            </a:extLst>
          </p:cNvPr>
          <p:cNvSpPr txBox="1"/>
          <p:nvPr/>
        </p:nvSpPr>
        <p:spPr>
          <a:xfrm>
            <a:off x="7789372" y="3263384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3.8”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D430BA3D-7EC3-413D-58C1-BCFCCA463409}"/>
              </a:ext>
            </a:extLst>
          </p:cNvPr>
          <p:cNvSpPr/>
          <p:nvPr/>
        </p:nvSpPr>
        <p:spPr>
          <a:xfrm>
            <a:off x="4705350" y="2507929"/>
            <a:ext cx="2628900" cy="1714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C4E12B-1322-B84E-F098-F971681B8437}"/>
              </a:ext>
            </a:extLst>
          </p:cNvPr>
          <p:cNvSpPr txBox="1"/>
          <p:nvPr/>
        </p:nvSpPr>
        <p:spPr>
          <a:xfrm>
            <a:off x="5529922" y="569015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0642080-6D76-0DDA-7D58-96C0B86C9BEA}"/>
              </a:ext>
            </a:extLst>
          </p:cNvPr>
          <p:cNvSpPr/>
          <p:nvPr/>
        </p:nvSpPr>
        <p:spPr>
          <a:xfrm>
            <a:off x="4984535" y="1564100"/>
            <a:ext cx="669155" cy="681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Button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2BFFCD3-22B2-77E3-C69B-0FBFC97113FF}"/>
              </a:ext>
            </a:extLst>
          </p:cNvPr>
          <p:cNvSpPr/>
          <p:nvPr/>
        </p:nvSpPr>
        <p:spPr>
          <a:xfrm>
            <a:off x="6409124" y="1564100"/>
            <a:ext cx="669155" cy="681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Button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A4D69C4-17A6-C80A-15F8-EBC007115130}"/>
              </a:ext>
            </a:extLst>
          </p:cNvPr>
          <p:cNvSpPr/>
          <p:nvPr/>
        </p:nvSpPr>
        <p:spPr>
          <a:xfrm>
            <a:off x="4527335" y="1584695"/>
            <a:ext cx="304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28F5A71-77DE-0807-5BC8-7189384577C2}"/>
              </a:ext>
            </a:extLst>
          </p:cNvPr>
          <p:cNvSpPr/>
          <p:nvPr/>
        </p:nvSpPr>
        <p:spPr>
          <a:xfrm>
            <a:off x="5990024" y="1584695"/>
            <a:ext cx="304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DEF4AF4-3A3F-A6B8-37DC-3CDA175B324A}"/>
              </a:ext>
            </a:extLst>
          </p:cNvPr>
          <p:cNvSpPr/>
          <p:nvPr/>
        </p:nvSpPr>
        <p:spPr>
          <a:xfrm>
            <a:off x="4479555" y="4518140"/>
            <a:ext cx="74295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Level Shifter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273CBE7-4323-04B1-8871-57391701B13C}"/>
              </a:ext>
            </a:extLst>
          </p:cNvPr>
          <p:cNvSpPr/>
          <p:nvPr/>
        </p:nvSpPr>
        <p:spPr>
          <a:xfrm>
            <a:off x="5839107" y="4687422"/>
            <a:ext cx="606634" cy="56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IMU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D425645-D8FE-8634-4513-795C61552100}"/>
              </a:ext>
            </a:extLst>
          </p:cNvPr>
          <p:cNvSpPr/>
          <p:nvPr/>
        </p:nvSpPr>
        <p:spPr>
          <a:xfrm>
            <a:off x="6953250" y="4536063"/>
            <a:ext cx="647700" cy="647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Digital Amplifier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D797F24-5B00-D9E6-1726-FF0F65B41DFF}"/>
              </a:ext>
            </a:extLst>
          </p:cNvPr>
          <p:cNvSpPr/>
          <p:nvPr/>
        </p:nvSpPr>
        <p:spPr>
          <a:xfrm>
            <a:off x="5387117" y="4515960"/>
            <a:ext cx="190500" cy="190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19C7F4D-5DA9-C096-CD1E-3A7D8DCF7862}"/>
              </a:ext>
            </a:extLst>
          </p:cNvPr>
          <p:cNvSpPr/>
          <p:nvPr/>
        </p:nvSpPr>
        <p:spPr>
          <a:xfrm>
            <a:off x="5390752" y="4756937"/>
            <a:ext cx="190500" cy="190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C81D171-650A-CF31-7079-A8A4AF0CE907}"/>
              </a:ext>
            </a:extLst>
          </p:cNvPr>
          <p:cNvSpPr/>
          <p:nvPr/>
        </p:nvSpPr>
        <p:spPr>
          <a:xfrm>
            <a:off x="5387117" y="4993263"/>
            <a:ext cx="190500" cy="190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3A9B32-EB09-427C-CCD4-305E13F9C060}"/>
              </a:ext>
            </a:extLst>
          </p:cNvPr>
          <p:cNvSpPr txBox="1"/>
          <p:nvPr/>
        </p:nvSpPr>
        <p:spPr>
          <a:xfrm>
            <a:off x="4980540" y="4272906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LED Strips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14CB717-1EFD-79E4-FA67-127243BE2267}"/>
              </a:ext>
            </a:extLst>
          </p:cNvPr>
          <p:cNvSpPr/>
          <p:nvPr/>
        </p:nvSpPr>
        <p:spPr>
          <a:xfrm>
            <a:off x="6626649" y="4545228"/>
            <a:ext cx="190500" cy="190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022591A-04B4-55E0-3021-DF8EFE2AF0A9}"/>
              </a:ext>
            </a:extLst>
          </p:cNvPr>
          <p:cNvSpPr/>
          <p:nvPr/>
        </p:nvSpPr>
        <p:spPr>
          <a:xfrm>
            <a:off x="6630284" y="4786205"/>
            <a:ext cx="190500" cy="190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6DA890F-D9C9-132B-9281-9C904425E67A}"/>
              </a:ext>
            </a:extLst>
          </p:cNvPr>
          <p:cNvSpPr txBox="1"/>
          <p:nvPr/>
        </p:nvSpPr>
        <p:spPr>
          <a:xfrm>
            <a:off x="6321828" y="4271562"/>
            <a:ext cx="75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Speaker</a:t>
            </a:r>
          </a:p>
        </p:txBody>
      </p:sp>
    </p:spTree>
    <p:extLst>
      <p:ext uri="{BB962C8B-B14F-4D97-AF65-F5344CB8AC3E}">
        <p14:creationId xmlns:p14="http://schemas.microsoft.com/office/powerpoint/2010/main" val="203514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11066</TotalTime>
  <Words>535</Words>
  <Application>Microsoft Macintosh PowerPoint</Application>
  <PresentationFormat>Widescreen</PresentationFormat>
  <Paragraphs>122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Amazon Ember</vt:lpstr>
      <vt:lpstr>Arial</vt:lpstr>
      <vt:lpstr>Proxima Nova</vt:lpstr>
      <vt:lpstr>Diamond Grid 16x9</vt:lpstr>
      <vt:lpstr>EDES 301  PCB Project</vt:lpstr>
      <vt:lpstr>Background Information</vt:lpstr>
      <vt:lpstr>System Block Diagram</vt:lpstr>
      <vt:lpstr>Power Block Diagram</vt:lpstr>
      <vt:lpstr>PowerPoint Presentation</vt:lpstr>
      <vt:lpstr>Components / Budget</vt:lpstr>
      <vt:lpstr>Division of Labor</vt:lpstr>
      <vt:lpstr>Mechanical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Mustafa Latif</cp:lastModifiedBy>
  <cp:revision>428</cp:revision>
  <dcterms:created xsi:type="dcterms:W3CDTF">2018-01-09T20:24:50Z</dcterms:created>
  <dcterms:modified xsi:type="dcterms:W3CDTF">2024-12-20T17:03:16Z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